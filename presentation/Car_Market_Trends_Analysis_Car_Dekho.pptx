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3"/>
  </p:notesMasterIdLst>
  <p:handoutMasterIdLst>
    <p:handoutMasterId r:id="rId14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0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16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8/27/2026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8/27/2026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hyperlink" Target="abc" TargetMode="External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hyperlink" Target="abc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00" y="3657600"/>
            <a:ext cx="4389120" cy="457200"/>
          </a:xfrm>
        </p:spPr>
        <p:txBody>
          <a:bodyPr/>
          <a:lstStyle/>
          <a:p>
            <a:pPr algn="r"/>
            <a:r>
              <a:rPr lang="en-US" b="0" dirty="0" sz="1800">
                <a:solidFill>
                  <a:schemeClr val="tx1"/>
                </a:solidFill>
              </a:rPr>
              <a:t>Hemant Arora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0" y="1874519"/>
            <a:ext cx="4297680" cy="640080"/>
          </a:xfrm>
        </p:spPr>
        <p:txBody>
          <a:bodyPr>
            <a:normAutofit/>
          </a:bodyPr>
          <a:lstStyle/>
          <a:p>
            <a:pPr algn="l"/>
            <a:r>
              <a:rPr lang="en-GB" sz="2600" dirty="0"/>
              <a:t>Car Market Trends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715000" y="2788920"/>
            <a:ext cx="4389120" cy="41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z="1500"/>
              <a:t>AICTE STU ID : __________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85953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tos"/>
              </a:rPr>
              <a:t>Convert the Car Dekho records into actionable market insights.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325880"/>
            <a:ext cx="9784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Analyze vehicle manufacturing years, prices, mileage and ownership patterns.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Identify missing data, vehicle variety, most-listed models and transaction characteristics.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Measure depreciation and identify brands/models with stronger resale retention.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Separate two-wheelers from cars and compare their age, pricing and resale behavior.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Answer all 25 case-study questions using reproducible Python analysis.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2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Project 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85953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tos"/>
              </a:rPr>
              <a:t>End-to-end exploratory data analysis of the supplied 301-record dataset.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417320"/>
            <a:ext cx="2240280" cy="1051560"/>
          </a:xfrm>
          <a:prstGeom prst="roundRect">
            <a:avLst/>
          </a:prstGeom>
          <a:solidFill>
            <a:srgbClr val="F5F9FB"/>
          </a:solidFill>
          <a:ln>
            <a:solidFill>
              <a:srgbClr val="B4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527048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5A64"/>
                </a:solidFill>
                <a:latin typeface="Aptos"/>
              </a:rPr>
              <a:t>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801368"/>
            <a:ext cx="2020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4B69"/>
                </a:solidFill>
                <a:latin typeface="Aptos"/>
              </a:rPr>
              <a:t>301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1417320"/>
            <a:ext cx="2240280" cy="1051560"/>
          </a:xfrm>
          <a:prstGeom prst="roundRect">
            <a:avLst/>
          </a:prstGeom>
          <a:solidFill>
            <a:srgbClr val="F5F9FB"/>
          </a:solidFill>
          <a:ln>
            <a:solidFill>
              <a:srgbClr val="B4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1527048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5A64"/>
                </a:solidFill>
                <a:latin typeface="Aptos"/>
              </a:rPr>
              <a:t>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1801368"/>
            <a:ext cx="2020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4B69"/>
                </a:solidFill>
                <a:latin typeface="Aptos"/>
              </a:rPr>
              <a:t>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417320"/>
            <a:ext cx="2240280" cy="1051560"/>
          </a:xfrm>
          <a:prstGeom prst="roundRect">
            <a:avLst/>
          </a:prstGeom>
          <a:solidFill>
            <a:srgbClr val="F5F9FB"/>
          </a:solidFill>
          <a:ln>
            <a:solidFill>
              <a:srgbClr val="B4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527048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5A64"/>
                </a:solidFill>
                <a:latin typeface="Aptos"/>
              </a:rPr>
              <a:t>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801368"/>
            <a:ext cx="2020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4B69"/>
                </a:solidFill>
                <a:latin typeface="Aptos"/>
              </a:rPr>
              <a:t>2003–2018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1417320"/>
            <a:ext cx="2240280" cy="1051560"/>
          </a:xfrm>
          <a:prstGeom prst="roundRect">
            <a:avLst/>
          </a:prstGeom>
          <a:solidFill>
            <a:srgbClr val="F5F9FB"/>
          </a:solidFill>
          <a:ln>
            <a:solidFill>
              <a:srgbClr val="B4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1527048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5A64"/>
                </a:solidFill>
                <a:latin typeface="Aptos"/>
              </a:rPr>
              <a:t>Missing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1801368"/>
            <a:ext cx="2020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4B69"/>
                </a:solidFill>
                <a:latin typeface="Aptos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743200"/>
            <a:ext cx="9875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Dataset fields: Car_Name, Year, Selling_Price, Present_Price, Kms_Driven, Fuel_Type, Seller_Type, Transmission and Owner.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Derived measures: depreciation = Present Price − Selling Price; retention = Selling Price ÷ Present Price.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Vehicle type is inferred from the model names present in the dataset: 202 cars and 99 two-wheelers.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Two exact duplicate rows are present; they are reported as a data-quality observation rather than silently removed.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3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Who Are the End Users?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85953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tos"/>
              </a:rPr>
              <a:t>How these insights can support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417320"/>
            <a:ext cx="4572000" cy="1691640"/>
          </a:xfrm>
          <a:prstGeom prst="roundRect">
            <a:avLst/>
          </a:prstGeom>
          <a:solidFill>
            <a:srgbClr val="F5F9FB"/>
          </a:solidFill>
          <a:ln>
            <a:solidFill>
              <a:srgbClr val="B4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1527048"/>
            <a:ext cx="43525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5A64"/>
                </a:solidFill>
                <a:latin typeface="Aptos"/>
              </a:rPr>
              <a:t>Buyers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1801368"/>
            <a:ext cx="43525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4B69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1984248"/>
            <a:ext cx="4251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  <a:latin typeface="Aptos"/>
              </a:rPr>
              <a:t>Estimate fair resale value and understand depreciation.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1417320"/>
            <a:ext cx="4572000" cy="1691640"/>
          </a:xfrm>
          <a:prstGeom prst="roundRect">
            <a:avLst/>
          </a:prstGeom>
          <a:solidFill>
            <a:srgbClr val="F5F9FB"/>
          </a:solidFill>
          <a:ln>
            <a:solidFill>
              <a:srgbClr val="B4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1527048"/>
            <a:ext cx="43525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5A64"/>
                </a:solidFill>
                <a:latin typeface="Aptos"/>
              </a:rPr>
              <a:t>Dealers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1801368"/>
            <a:ext cx="43525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4B69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1984248"/>
            <a:ext cx="4251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  <a:latin typeface="Aptos"/>
              </a:rPr>
              <a:t>Spot high-demand models and pricing opportunities.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566160"/>
            <a:ext cx="4572000" cy="1691640"/>
          </a:xfrm>
          <a:prstGeom prst="roundRect">
            <a:avLst/>
          </a:prstGeom>
          <a:solidFill>
            <a:srgbClr val="F5F9FB"/>
          </a:solidFill>
          <a:ln>
            <a:solidFill>
              <a:srgbClr val="B4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3675888"/>
            <a:ext cx="43525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5A64"/>
                </a:solidFill>
                <a:latin typeface="Aptos"/>
              </a:rPr>
              <a:t>Sellers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3950208"/>
            <a:ext cx="43525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4B69"/>
                </a:solidFill>
                <a:latin typeface="Apto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4133088"/>
            <a:ext cx="4251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  <a:latin typeface="Aptos"/>
              </a:rPr>
              <a:t>Assess how age, mileage and model influence resale.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566160"/>
            <a:ext cx="4572000" cy="1691640"/>
          </a:xfrm>
          <a:prstGeom prst="roundRect">
            <a:avLst/>
          </a:prstGeom>
          <a:solidFill>
            <a:srgbClr val="F5F9FB"/>
          </a:solidFill>
          <a:ln>
            <a:solidFill>
              <a:srgbClr val="B4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3675888"/>
            <a:ext cx="43525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5A64"/>
                </a:solidFill>
                <a:latin typeface="Aptos"/>
              </a:rPr>
              <a:t>Analysts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53328" y="3950208"/>
            <a:ext cx="43525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4B69"/>
                </a:solidFill>
                <a:latin typeface="Apto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4133088"/>
            <a:ext cx="4251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  <a:latin typeface="Aptos"/>
              </a:rPr>
              <a:t>Explore market mix, trends and outliers.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4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Technology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85953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tos"/>
              </a:rPr>
              <a:t>Tools and analytical steps used in the case study.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325880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Python 3 / Jupyter Notebook — interactive analysis and presentation of results.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Pandas — CSV ingestion, cleaning, filtering, grouping and descriptive statistics.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NumPy — numerical calculations and derived metrics.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Matplotlib — visualizations for trends, distributions and relationships.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Workflow: Load → Inspect → Validate → Transform → Analyze → Visualize → Interpret.</a:t>
            </a:r>
          </a:p>
        </p:txBody>
      </p:sp>
      <p:pic>
        <p:nvPicPr>
          <p:cNvPr id="20" name="Picture 19" descr="678d5156-d631-4040-aca5-56ac05943a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4160520"/>
            <a:ext cx="4114800" cy="281358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5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Dataset Overview &amp; Data Quality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1234440"/>
            <a:ext cx="2240280" cy="1051560"/>
          </a:xfrm>
          <a:prstGeom prst="roundRect">
            <a:avLst/>
          </a:prstGeom>
          <a:solidFill>
            <a:srgbClr val="F5F9FB"/>
          </a:solidFill>
          <a:ln>
            <a:solidFill>
              <a:srgbClr val="B4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1344168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5A64"/>
                </a:solidFill>
                <a:latin typeface="Aptos"/>
              </a:rPr>
              <a:t>Total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1618488"/>
            <a:ext cx="2020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4B69"/>
                </a:solidFill>
                <a:latin typeface="Aptos"/>
              </a:rPr>
              <a:t>301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54680" y="1234440"/>
            <a:ext cx="2240280" cy="1051560"/>
          </a:xfrm>
          <a:prstGeom prst="roundRect">
            <a:avLst/>
          </a:prstGeom>
          <a:solidFill>
            <a:srgbClr val="F5F9FB"/>
          </a:solidFill>
          <a:ln>
            <a:solidFill>
              <a:srgbClr val="B4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64408" y="1344168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5A64"/>
                </a:solidFill>
                <a:latin typeface="Aptos"/>
              </a:rPr>
              <a:t>Unique 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4408" y="1618488"/>
            <a:ext cx="2020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4B69"/>
                </a:solidFill>
                <a:latin typeface="Aptos"/>
              </a:rPr>
              <a:t>98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0" y="1234440"/>
            <a:ext cx="2240280" cy="1051560"/>
          </a:xfrm>
          <a:prstGeom prst="roundRect">
            <a:avLst/>
          </a:prstGeom>
          <a:solidFill>
            <a:srgbClr val="F5F9FB"/>
          </a:solidFill>
          <a:ln>
            <a:solidFill>
              <a:srgbClr val="B4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33288" y="1344168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5A64"/>
                </a:solidFill>
                <a:latin typeface="Aptos"/>
              </a:rPr>
              <a:t>Missing cells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33288" y="1618488"/>
            <a:ext cx="2020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4B69"/>
                </a:solidFill>
                <a:latin typeface="Aptos"/>
              </a:rPr>
              <a:t>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1234440"/>
            <a:ext cx="2240280" cy="1051560"/>
          </a:xfrm>
          <a:prstGeom prst="roundRect">
            <a:avLst/>
          </a:prstGeom>
          <a:solidFill>
            <a:srgbClr val="F5F9FB"/>
          </a:solidFill>
          <a:ln>
            <a:solidFill>
              <a:srgbClr val="B4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2167" y="1344168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5A64"/>
                </a:solidFill>
                <a:latin typeface="Aptos"/>
              </a:rPr>
              <a:t>Exact duplicate rows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2167" y="1618488"/>
            <a:ext cx="2020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4B69"/>
                </a:solidFill>
                <a:latin typeface="Aptos"/>
              </a:rPr>
              <a:t>2</a:t>
            </a:r>
          </a:p>
        </p:txBody>
      </p:sp>
      <p:pic>
        <p:nvPicPr>
          <p:cNvPr id="44" name="Picture 43" descr="year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14600"/>
            <a:ext cx="6400800" cy="315988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223760" y="265176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Manufacturing years span 2003 to 2018.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Selling price ranges from ₹0.10 lakh to ₹35.00 lakh.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Present price ranges from ₹0.32 lakh to ₹92.60 lakh.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Kilometres driven ranges from 500 to 500,000 km.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6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Market Composition</a:t>
            </a:r>
          </a:p>
        </p:txBody>
      </p:sp>
      <p:pic>
        <p:nvPicPr>
          <p:cNvPr id="32" name="Picture 31" descr="cars_bik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34440"/>
            <a:ext cx="3337560" cy="2656425"/>
          </a:xfrm>
          <a:prstGeom prst="rect">
            <a:avLst/>
          </a:prstGeom>
        </p:spPr>
      </p:pic>
      <p:pic>
        <p:nvPicPr>
          <p:cNvPr id="33" name="Picture 32" descr="fuel_m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39" y="1234440"/>
            <a:ext cx="3337560" cy="3529894"/>
          </a:xfrm>
          <a:prstGeom prst="rect">
            <a:avLst/>
          </a:prstGeom>
        </p:spPr>
      </p:pic>
      <p:pic>
        <p:nvPicPr>
          <p:cNvPr id="34" name="Picture 33" descr="seller_ty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234440"/>
            <a:ext cx="3337560" cy="2656425"/>
          </a:xfrm>
          <a:prstGeom prst="rect">
            <a:avLst/>
          </a:prstGeom>
        </p:spPr>
      </p:pic>
      <p:pic>
        <p:nvPicPr>
          <p:cNvPr id="35" name="Picture 34" descr="transmiss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794760"/>
            <a:ext cx="3337560" cy="265642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069080" y="3794760"/>
            <a:ext cx="6903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Cars: 202 (67.1%) • Two-wheelers: 99 (32.9%).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Fuel: Petrol 239, Diesel 60, CNG 2.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Seller: Dealer 195, Individual 106.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Transmission: Manual 261, Automatic 40.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7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Depreciation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tos"/>
              </a:rPr>
              <a:t>Depreciation = Present Price − Selling Price.</a:t>
            </a:r>
          </a:p>
        </p:txBody>
      </p:sp>
      <p:pic>
        <p:nvPicPr>
          <p:cNvPr id="4" name="Picture 3" descr="brand_deprec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217920" cy="34631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1417320"/>
            <a:ext cx="4160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Highest absolute depreciation: land cruiser — ₹57.60 lakh.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Lowest absolute depreciation: Honda Activa 4G — ₹0.03 lakh.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Among brands with ≥5 records, Royal Enfield shows the lowest average relative depreciation (~26.1%).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Next strongest retention in this comparison: Hyundai (~29.1%) and Yamaha (~30.6%).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Brand results are descriptive, not causal; model mix and price segment affect depreciation.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Does Age / Mileage Affect Selling Price?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tos"/>
              </a:rPr>
              <a:t>Evidence from correlation and scatter analysis.</a:t>
            </a:r>
          </a:p>
        </p:txBody>
      </p:sp>
      <p:pic>
        <p:nvPicPr>
          <p:cNvPr id="4" name="Picture 3" descr="price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577840" cy="3106645"/>
          </a:xfrm>
          <a:prstGeom prst="rect">
            <a:avLst/>
          </a:prstGeom>
        </p:spPr>
      </p:pic>
      <p:pic>
        <p:nvPicPr>
          <p:cNvPr id="5" name="Picture 4" descr="price_k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212080" cy="29029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8640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Selling price vs manufacturing year correlation: 0.236 → newer vehicles generally command higher prices.</a:t>
            </a:r>
          </a:p>
          <a:p>
            <a:pPr>
              <a:spcAft>
                <a:spcPts val="7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Selling price vs kilometres correlation: 0.029 → mileage alone has a very weak linear relationship in this sample.</a:t>
            </a:r>
          </a:p>
          <a:p>
            <a:pPr>
              <a:spcAft>
                <a:spcPts val="7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Therefore, age/year is visibly more informative than kilometres alone for this dataset.</a:t>
            </a:r>
          </a:p>
          <a:p>
            <a:pPr>
              <a:spcAft>
                <a:spcPts val="7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Mileage still matters in individual deals, but it is not sufficient by itself to explain selling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Two-Wheeler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tos"/>
              </a:rPr>
              <a:t>Questions 17–21.</a:t>
            </a:r>
          </a:p>
        </p:txBody>
      </p:sp>
      <p:pic>
        <p:nvPicPr>
          <p:cNvPr id="4" name="Picture 3" descr="bike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943600" cy="33103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325880"/>
            <a:ext cx="4251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t>Two-wheelers identified: 99 records.</a:t>
            </a:r>
          </a:p>
          <a:p>
            <a:pPr>
              <a:spcAft>
                <a:spcPts val="7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t>Oldest bike: Hero Super Splendor (2005) — sold at ₹0.20 lakh.</a:t>
            </a:r>
          </a:p>
          <a:p>
            <a:pPr>
              <a:spcAft>
                <a:spcPts val="7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t>Newest bike year: 2017; 16 bikes share that newest year.</a:t>
            </a:r>
          </a:p>
          <a:p>
            <a:pPr>
              <a:spcAft>
                <a:spcPts val="7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t>Most frequent two-wheeler model: Royal Enfield Classic 350 — 7 records.</a:t>
            </a:r>
          </a:p>
          <a:p>
            <a:pPr>
              <a:spcAft>
                <a:spcPts val="7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t>Best resale-retention deal: Bajaj Avenger 220 (2017), 1,300 km, retention 94.7%.</a:t>
            </a:r>
          </a:p>
          <a:p>
            <a:pPr>
              <a:spcAft>
                <a:spcPts val="7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t>Likely explanation: very recent model + very low kilometres + zero previous owners in the record; this supports stronger resale retention.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Car-Only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tos"/>
              </a:rPr>
              <a:t>Questions 22–25.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Cars identified: 202 records.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Oldest cars: 800, sx4 — manufacturing year 2003.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Newest car: vitara brezza — 2018, sold at ₹9.25 lakh.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Best resale-retention deal: corolla altis (2016) — selling ₹14.73 lakh vs present ₹14.89 lakh.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Retention is 98.9% (depreciation only ₹0.16 lakh).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Likely explanation: comparatively recent vehicle, moderate mileage and zero previous owners; the model also has strong market value in this sample.</a:t>
            </a:r>
          </a:p>
        </p:txBody>
      </p:sp>
      <p:pic>
        <p:nvPicPr>
          <p:cNvPr id="5" name="Picture 4" descr="price_k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4572000" cy="25464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Case Study Answers — Q1 to Q13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t>1. Manufacturing years: 2003–2018.</a:t>
            </a:r>
          </a:p>
          <a:p>
            <a:pPr>
              <a:spcAft>
                <a:spcPts val="7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t>2. Lowest selling price: ₹0.10 lakh.</a:t>
            </a:r>
          </a:p>
          <a:p>
            <a:pPr>
              <a:spcAft>
                <a:spcPts val="7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t>3. Highest selling price: ₹35.00 lakh.</a:t>
            </a:r>
          </a:p>
          <a:p>
            <a:pPr>
              <a:spcAft>
                <a:spcPts val="7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t>4. Records: 301.</a:t>
            </a:r>
          </a:p>
          <a:p>
            <a:pPr>
              <a:spcAft>
                <a:spcPts val="7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t>5. Missing values: 0; exact duplicate rows: 2.</a:t>
            </a:r>
          </a:p>
          <a:p>
            <a:pPr>
              <a:spcAft>
                <a:spcPts val="7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t>6. Different vehicle models: 98.</a:t>
            </a:r>
          </a:p>
          <a:p>
            <a:pPr>
              <a:spcAft>
                <a:spcPts val="7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t>7. Most sold/listed model: city (26 records).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0" y="123444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t>8. CNG vehicles: 2.</a:t>
            </a:r>
          </a:p>
          <a:p>
            <a:pPr>
              <a:spcAft>
                <a:spcPts val="7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t>9. Individual sellers: 106.</a:t>
            </a:r>
          </a:p>
          <a:p>
            <a:pPr>
              <a:spcAft>
                <a:spcPts val="7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t>10. Automatic transmission: 40.</a:t>
            </a:r>
          </a:p>
          <a:p>
            <a:pPr>
              <a:spcAft>
                <a:spcPts val="7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t>11. Single-owner vehicles (Owner = 0): 290.</a:t>
            </a:r>
          </a:p>
          <a:p>
            <a:pPr>
              <a:spcAft>
                <a:spcPts val="7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t>12. Highest depreciation: land cruiser (₹57.60 lakh); lowest: Honda Activa 4G (₹0.03 lakh).</a:t>
            </a:r>
          </a:p>
          <a:p>
            <a:pPr>
              <a:spcAft>
                <a:spcPts val="700"/>
              </a:spcAft>
              <a:defRPr sz="1320">
                <a:solidFill>
                  <a:srgbClr val="232323"/>
                </a:solidFill>
                <a:latin typeface="Aptos"/>
              </a:defRPr>
            </a:pPr>
            <a:r>
              <a:t>13. Lowest relative depreciation among brands with ≥5 records: Royal Enfield (~26.1%).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Case Study Answers — Q14 to Q25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0" y="114300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70">
                <a:solidFill>
                  <a:srgbClr val="232323"/>
                </a:solidFill>
                <a:latin typeface="Aptos"/>
              </a:defRPr>
            </a:pPr>
            <a:r>
              <a:t>20. Most sold/listed bike model: Royal Enfield Classic 350 (7 records).</a:t>
            </a:r>
          </a:p>
          <a:p>
            <a:pPr>
              <a:spcAft>
                <a:spcPts val="700"/>
              </a:spcAft>
              <a:defRPr sz="1270">
                <a:solidFill>
                  <a:srgbClr val="232323"/>
                </a:solidFill>
                <a:latin typeface="Aptos"/>
              </a:defRPr>
            </a:pPr>
            <a:r>
              <a:t>21. Strongest two-wheeler deal by resale retention: Bajaj Avenger 220 — 94.7% retention; very low 1,300 km and 2017 model help explain it.</a:t>
            </a:r>
          </a:p>
          <a:p>
            <a:pPr>
              <a:spcAft>
                <a:spcPts val="700"/>
              </a:spcAft>
              <a:defRPr sz="1270">
                <a:solidFill>
                  <a:srgbClr val="232323"/>
                </a:solidFill>
                <a:latin typeface="Aptos"/>
              </a:defRPr>
            </a:pPr>
            <a:r>
              <a:t>22. Cars: 202 records.</a:t>
            </a:r>
          </a:p>
          <a:p>
            <a:pPr>
              <a:spcAft>
                <a:spcPts val="700"/>
              </a:spcAft>
              <a:defRPr sz="1270">
                <a:solidFill>
                  <a:srgbClr val="232323"/>
                </a:solidFill>
                <a:latin typeface="Aptos"/>
              </a:defRPr>
            </a:pPr>
            <a:r>
              <a:t>23. Oldest cars: 800, sx4 (2003).</a:t>
            </a:r>
          </a:p>
          <a:p>
            <a:pPr>
              <a:spcAft>
                <a:spcPts val="700"/>
              </a:spcAft>
              <a:defRPr sz="1270">
                <a:solidFill>
                  <a:srgbClr val="232323"/>
                </a:solidFill>
                <a:latin typeface="Aptos"/>
              </a:defRPr>
            </a:pPr>
            <a:r>
              <a:t>24. Newest car: vitara brezza (2018).</a:t>
            </a:r>
          </a:p>
          <a:p>
            <a:pPr>
              <a:spcAft>
                <a:spcPts val="700"/>
              </a:spcAft>
              <a:defRPr sz="1270">
                <a:solidFill>
                  <a:srgbClr val="232323"/>
                </a:solidFill>
                <a:latin typeface="Aptos"/>
              </a:defRPr>
            </a:pPr>
            <a:r>
              <a:t>25. Strongest car deal by resale retention: corolla altis — 98.9% retention; 2016 model, 23,000 km and zero previous owners are consistent with strong resale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5440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D2D2D"/>
                </a:solidFill>
                <a:latin typeface="Aptos"/>
              </a:rPr>
              <a:t>19. Newest bikes: 2017 models (16 records), including UM Renegade Mojave, KTM RC200, Bajaj Dominar 400 and Royal Enfield Classic 350.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Jupyter Notebook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tos"/>
              </a:rPr>
              <a:t>Evidence of the analysis workflow from the supplied case-study screenshots.</a:t>
            </a:r>
          </a:p>
        </p:txBody>
      </p:sp>
      <p:pic>
        <p:nvPicPr>
          <p:cNvPr id="4" name="Picture 3" descr="678d5156-d631-4040-aca5-56ac05943a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303520" cy="3626401"/>
          </a:xfrm>
          <a:prstGeom prst="rect">
            <a:avLst/>
          </a:prstGeom>
        </p:spPr>
      </p:pic>
      <p:pic>
        <p:nvPicPr>
          <p:cNvPr id="5" name="Picture 4" descr="ad208eff-1028-458d-8ba0-924293b8ff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143000"/>
            <a:ext cx="5303520" cy="31344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15000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4B69"/>
                </a:solidFill>
                <a:latin typeface="Aptos"/>
              </a:rPr>
              <a:t>Load CSV → inspect head() → describe() → answer business questions with filters, value_counts(), groupby(), correlations and visualizations.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The dataset contains 301 records across 2003–2018, with no missing cells.</a:t>
            </a:r>
          </a:p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The market is dominated by petrol vehicles, dealer listings and manual transmission.</a:t>
            </a:r>
          </a:p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City is the most frequently listed model (26 records).</a:t>
            </a:r>
          </a:p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Cars account for 202 records; two-wheelers account for 99 records.</a:t>
            </a:r>
          </a:p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Newer manufacturing years are positively associated with selling price, while kilometres alone show little linear association.</a:t>
            </a:r>
          </a:p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Large absolute depreciation is concentrated in high-value models; relative depreciation gives a fairer brand comparison.</a:t>
            </a:r>
          </a:p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The best observed resale-retention examples combine newer model years, low mileage and zero previous owners.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777240" y="9144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43750"/>
                </a:solidFill>
                <a:latin typeface="Aptos"/>
              </a:rPr>
              <a:t>Conclusion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1874519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2D2D2D"/>
                </a:solidFill>
                <a:latin typeface="Aptos"/>
              </a:rPr>
              <a:t>The Car Dekho dataset can be converted into clear market insights through a repeatable EDA workflow.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315468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4B69"/>
                </a:solidFill>
                <a:latin typeface="Aptos"/>
              </a:rPr>
              <a:t>Pandas  •  NumPy  •  Matplotlib  •  Jupyter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" y="4572000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43750"/>
                </a:solidFill>
                <a:latin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Jupyter Evidence — Dataset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tos"/>
              </a:rPr>
              <a:t>Source screenshots from the supplied case-study notebook.</a:t>
            </a:r>
          </a:p>
        </p:txBody>
      </p:sp>
      <p:pic>
        <p:nvPicPr>
          <p:cNvPr id="4" name="Picture 3" descr="ac5af858-0a1b-4d88-9026-c421ac6f24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5486400" cy="3537830"/>
          </a:xfrm>
          <a:prstGeom prst="rect">
            <a:avLst/>
          </a:prstGeom>
        </p:spPr>
      </p:pic>
      <p:pic>
        <p:nvPicPr>
          <p:cNvPr id="5" name="Picture 4" descr="b239a206-7119-4189-ae1e-06b1226681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143000"/>
            <a:ext cx="5440680" cy="33954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150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4B69"/>
                </a:solidFill>
                <a:latin typeface="Aptos"/>
              </a:rPr>
              <a:t>The notebook confirms 301 records, 9 original columns, 2003–2018 manufacturing years and 0 missing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Jupyter Evidence — Categorical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tos"/>
              </a:rPr>
              <a:t>Model frequency and fuel-type distribution from the original notebook.</a:t>
            </a:r>
          </a:p>
        </p:txBody>
      </p:sp>
      <p:pic>
        <p:nvPicPr>
          <p:cNvPr id="4" name="Picture 3" descr="b4d70150-0d72-4901-8052-b8024f914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5394960" cy="3550172"/>
          </a:xfrm>
          <a:prstGeom prst="rect">
            <a:avLst/>
          </a:prstGeom>
        </p:spPr>
      </p:pic>
      <p:pic>
        <p:nvPicPr>
          <p:cNvPr id="5" name="Picture 4" descr="4acfeeee-faa9-4e3d-92b4-0c1d0c6c41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051560"/>
            <a:ext cx="5394960" cy="3409002"/>
          </a:xfrm>
          <a:prstGeom prst="rect">
            <a:avLst/>
          </a:prstGeom>
        </p:spPr>
      </p:pic>
      <p:pic>
        <p:nvPicPr>
          <p:cNvPr id="6" name="Picture 5" descr="725fea61-0835-4c3f-9520-cc47c6d757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86200"/>
            <a:ext cx="5120640" cy="3171354"/>
          </a:xfrm>
          <a:prstGeom prst="rect">
            <a:avLst/>
          </a:prstGeom>
        </p:spPr>
      </p:pic>
      <p:pic>
        <p:nvPicPr>
          <p:cNvPr id="7" name="Picture 6" descr="11b9dcc2-9766-47ce-b7ba-dc9821ca27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886200"/>
            <a:ext cx="4937760" cy="28819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0807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4B69"/>
                </a:solidFill>
                <a:latin typeface="Aptos"/>
              </a:rPr>
              <a:t>Source findings: 98 unique vehicle models; City is most frequent (26); Petrol 239, Diesel 60, CNG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3750"/>
                </a:solidFill>
                <a:latin typeface="Aptos"/>
              </a:rPr>
              <a:t>Jupyter Evidence — Visual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tos"/>
              </a:rPr>
              <a:t>Additional notebook output used to support the presentation.</a:t>
            </a:r>
          </a:p>
        </p:txBody>
      </p:sp>
      <p:pic>
        <p:nvPicPr>
          <p:cNvPr id="4" name="Picture 3" descr="26fcde65-7aa1-4025-8319-757f152945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5486400" cy="3524680"/>
          </a:xfrm>
          <a:prstGeom prst="rect">
            <a:avLst/>
          </a:prstGeom>
        </p:spPr>
      </p:pic>
      <p:pic>
        <p:nvPicPr>
          <p:cNvPr id="5" name="Picture 4" descr="ac5af858-0a1b-4d88-9026-c421ac6f24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143000"/>
            <a:ext cx="5303520" cy="34199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4B69"/>
                </a:solidFill>
                <a:latin typeface="Aptos"/>
              </a:rPr>
              <a:t>The evidence slides preserve the original notebook context while the main presentation uses cleaner, presentation-ready charts.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Car Market Trends Analysis • Car Dekho Dataset •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552</TotalTime>
  <Words>62</Words>
  <Application>Microsoft Office PowerPoint</Application>
  <PresentationFormat>Widescreen</PresentationFormat>
  <Paragraphs>17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74</cp:revision>
  <dcterms:created xsi:type="dcterms:W3CDTF">2021-07-11T13:13:15Z</dcterms:created>
  <dcterms:modified xsi:type="dcterms:W3CDTF">2026-08-27T14:04:10Z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